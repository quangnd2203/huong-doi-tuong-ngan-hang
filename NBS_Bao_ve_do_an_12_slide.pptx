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52360" y="0"/>
            <a:ext cx="4739335" cy="6858000"/>
          </a:xfrm>
          <a:prstGeom prst="rect">
            <a:avLst/>
          </a:prstGeom>
          <a:solidFill>
            <a:srgbClr val="10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H="1">
            <a:off x="6309360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6748272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187184" y="0"/>
            <a:ext cx="1097279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626096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065008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503920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42832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381744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820656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59568" y="0"/>
            <a:ext cx="1097280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698480" y="0"/>
            <a:ext cx="1097279" cy="6858000"/>
          </a:xfrm>
          <a:prstGeom prst="line">
            <a:avLst/>
          </a:prstGeom>
          <a:ln w="8890">
            <a:solidFill>
              <a:srgbClr val="22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941832"/>
            <a:ext cx="82296" cy="50292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2688" y="978408"/>
            <a:ext cx="2176272" cy="310896"/>
          </a:xfrm>
          <a:prstGeom prst="roundRect">
            <a:avLst>
              <a:gd name="adj" fmla="val 12000"/>
            </a:avLst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992124"/>
            <a:ext cx="2066543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729"/>
                </a:solidFill>
                <a:latin typeface="Aptos"/>
              </a:rPr>
              <a:t>BẢO VỆ ĐỒ ÁN 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1938528"/>
            <a:ext cx="76809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7FBFF"/>
                </a:solidFill>
                <a:latin typeface="Aptos"/>
              </a:rPr>
              <a:t>HỆ THỐNG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2560320"/>
            <a:ext cx="8275320" cy="914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7FBFF"/>
                </a:solidFill>
                <a:latin typeface="Aptos"/>
              </a:rPr>
              <a:t>QUẢN LÝ NGÂN HÀNG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7"/>
            <a:ext cx="76352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AB9CE"/>
                </a:solidFill>
                <a:latin typeface="Aptos"/>
              </a:rPr>
              <a:t>Ứng dụng Java Swing • Kiến trúc phân tầng • OOP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5256" y="4361688"/>
            <a:ext cx="5705856" cy="0"/>
          </a:xfrm>
          <a:prstGeom prst="line">
            <a:avLst/>
          </a:prstGeom>
          <a:ln w="2540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690872"/>
            <a:ext cx="6400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BFF"/>
                </a:solidFill>
                <a:latin typeface="Aptos"/>
              </a:rPr>
              <a:t>Sinh viên: Nguyễn Đăng Quang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65776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AB9CE"/>
                </a:solidFill>
                <a:latin typeface="Aptos"/>
              </a:rPr>
              <a:t>MSSV: NBS2503ITA0062     •     Nhóm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76672"/>
            <a:ext cx="54864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AB9CE"/>
                </a:solidFill>
                <a:latin typeface="Aptos"/>
              </a:rPr>
              <a:t>Giảng viên: Nguyễn Dũng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554480"/>
            <a:ext cx="3108960" cy="3520440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8759952" y="1874519"/>
            <a:ext cx="2066543" cy="868680"/>
          </a:xfrm>
          <a:prstGeom prst="triangle">
            <a:avLst/>
          </a:prstGeom>
          <a:solidFill>
            <a:srgbClr val="41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95944" y="2670048"/>
            <a:ext cx="2249424" cy="219456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05672" y="2971800"/>
            <a:ext cx="219456" cy="1161288"/>
          </a:xfrm>
          <a:prstGeom prst="rect">
            <a:avLst/>
          </a:prstGeom>
          <a:solidFill>
            <a:srgbClr val="B1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26880" y="2971800"/>
            <a:ext cx="219456" cy="1161288"/>
          </a:xfrm>
          <a:prstGeom prst="rect">
            <a:avLst/>
          </a:prstGeom>
          <a:solidFill>
            <a:srgbClr val="B1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48088" y="2971800"/>
            <a:ext cx="219456" cy="1161288"/>
          </a:xfrm>
          <a:prstGeom prst="rect">
            <a:avLst/>
          </a:prstGeom>
          <a:solidFill>
            <a:srgbClr val="B1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369296" y="2971800"/>
            <a:ext cx="219456" cy="1161288"/>
          </a:xfrm>
          <a:prstGeom prst="rect">
            <a:avLst/>
          </a:prstGeom>
          <a:solidFill>
            <a:srgbClr val="B1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0" y="4151376"/>
            <a:ext cx="2295144" cy="2286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13064" y="4498848"/>
            <a:ext cx="2660904" cy="13716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23376" y="4782312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0D6B3"/>
                </a:solidFill>
                <a:latin typeface="Aptos"/>
              </a:rPr>
              <a:t>N B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6217920"/>
            <a:ext cx="73152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1D4EC"/>
                </a:solidFill>
                <a:latin typeface="Aptos"/>
              </a:rPr>
              <a:t>2026  •  PXU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01  /  BỐI CẢNH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Bài toán &amp; lý do chọn đề tài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02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1508760"/>
            <a:ext cx="106070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AB9CE"/>
                </a:solidFill>
                <a:latin typeface="Aptos"/>
              </a:rPr>
              <a:t>Nhiều nghiệp vụ ngân hàng liên quan đồng thời đến hồ sơ khách hàng, tài khoản và lịch sử giao dịch.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" y="2377440"/>
            <a:ext cx="3529584" cy="226771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9536" y="2587752"/>
            <a:ext cx="50292" cy="365760"/>
          </a:xfrm>
          <a:prstGeom prst="rect">
            <a:avLst/>
          </a:prstGeom>
          <a:solidFill>
            <a:srgbClr val="41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2542032"/>
            <a:ext cx="301752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7FBFF"/>
                </a:solidFill>
                <a:latin typeface="Aptos"/>
              </a:rPr>
              <a:t>Khách hàng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" y="3163824"/>
            <a:ext cx="2944368" cy="1344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AB9CE"/>
                </a:solidFill>
                <a:latin typeface="Aptos"/>
              </a:rPr>
              <a:t>Thông tin định danh, trạng thái hoạt động và danh sách tài khoản phải thống nhất.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6" y="2377440"/>
            <a:ext cx="3529584" cy="226771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98848" y="2587752"/>
            <a:ext cx="50292" cy="36576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2542032"/>
            <a:ext cx="301752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7FBFF"/>
                </a:solidFill>
                <a:latin typeface="Aptos"/>
              </a:rPr>
              <a:t>Giao dịch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3163824"/>
            <a:ext cx="2944368" cy="1344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AB9CE"/>
                </a:solidFill>
                <a:latin typeface="Aptos"/>
              </a:rPr>
              <a:t>Nộp, rút, chuyển khoản, gửi tiết kiệm và vay cần kiểm tra quy tắc.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82712" y="2377440"/>
            <a:ext cx="3529584" cy="226771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47304" y="2587752"/>
            <a:ext cx="50292" cy="365760"/>
          </a:xfrm>
          <a:prstGeom prst="rect">
            <a:avLst/>
          </a:prstGeom>
          <a:solidFill>
            <a:srgbClr val="F5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1896" y="2542032"/>
            <a:ext cx="301752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7FBFF"/>
                </a:solidFill>
                <a:latin typeface="Aptos"/>
              </a:rPr>
              <a:t>Dữ liệu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3163824"/>
            <a:ext cx="2944368" cy="1344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AB9CE"/>
                </a:solidFill>
                <a:latin typeface="Aptos"/>
              </a:rPr>
              <a:t>Phải lưu bền vững, khôi phục được đúng loại tài khoản và lịch sử.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029200"/>
            <a:ext cx="10469880" cy="740664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70432" y="5175504"/>
            <a:ext cx="9966960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"/>
              </a:rPr>
              <a:t>MỤC TIÊU  →  Một ứng dụng desktop thống nhất, dễ sử dụng, có kiểm tra nghiệp vụ và áp dụng OOP rõ ràng.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02  /  PHÂN TÍCH YÊU CẦU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Phạm vi &amp; vai trò sử dụng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03 /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1673352"/>
            <a:ext cx="5321808" cy="2852928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1247" y="1883664"/>
            <a:ext cx="50292" cy="365760"/>
          </a:xfrm>
          <a:prstGeom prst="rect">
            <a:avLst/>
          </a:prstGeom>
          <a:solidFill>
            <a:srgbClr val="41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1837944"/>
            <a:ext cx="480974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7FBFF"/>
                </a:solidFill>
                <a:latin typeface="Aptos"/>
              </a:rPr>
              <a:t>NHÂN VIÊN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2386584"/>
            <a:ext cx="2286000" cy="310896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2" y="2400300"/>
            <a:ext cx="217627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1D4EC"/>
                </a:solidFill>
                <a:latin typeface="Aptos"/>
              </a:rPr>
              <a:t>EMPLOYEE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2779776"/>
            <a:ext cx="4736592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Quản lý khách hàng; mở/đóng tài khoản; nộp/rút tiền; mở tiết kiệm, giải ngân khoản vay; xem báo cáo.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673352"/>
            <a:ext cx="5321808" cy="2852928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36792" y="1883664"/>
            <a:ext cx="50292" cy="36576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4" y="1837944"/>
            <a:ext cx="480974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7FBFF"/>
                </a:solidFill>
                <a:latin typeface="Aptos"/>
              </a:rPr>
              <a:t>KHÁCH HÀNG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2386584"/>
            <a:ext cx="2286000" cy="310896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28816" y="2400300"/>
            <a:ext cx="217627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0D6B3"/>
                </a:solidFill>
                <a:latin typeface="Aptos"/>
              </a:rPr>
              <a:t>CUSTOMER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779776"/>
            <a:ext cx="4736592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Đăng nhập, xem tài khoản và lịch sử; chuyển khoản; xem lãi, tất toán tiết kiệm; trả nợ vay.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882896"/>
            <a:ext cx="49377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"/>
              </a:rPr>
              <a:t>5 nhóm chức năng cốt lõi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" y="5458968"/>
            <a:ext cx="1956816" cy="557784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5554980"/>
            <a:ext cx="188366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BFF"/>
                </a:solidFill>
                <a:latin typeface="Aptos"/>
              </a:rPr>
              <a:t>Khách hàng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07208" y="5458968"/>
            <a:ext cx="1920240" cy="557784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43784" y="5554980"/>
            <a:ext cx="1847088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BFF"/>
                </a:solidFill>
                <a:latin typeface="Aptos"/>
              </a:rPr>
              <a:t>Tài khoản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3752" y="5458968"/>
            <a:ext cx="1892807" cy="557784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10328" y="5554980"/>
            <a:ext cx="1819655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BFF"/>
                </a:solidFill>
                <a:latin typeface="Aptos"/>
              </a:rPr>
              <a:t>Giao dịch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2864" y="5458968"/>
            <a:ext cx="2340864" cy="557784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9440" y="5554980"/>
            <a:ext cx="226771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BFF"/>
                </a:solidFill>
                <a:latin typeface="Aptos"/>
              </a:rPr>
              <a:t>Tiết kiệm / vay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00032" y="5458968"/>
            <a:ext cx="1911095" cy="557784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36608" y="5554980"/>
            <a:ext cx="1837943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BFF"/>
                </a:solidFill>
                <a:latin typeface="Aptos"/>
              </a:rPr>
              <a:t>Báo cáo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03  /  TRIỂN KHAI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Công nghệ &amp; công cụ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04 /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1728216"/>
            <a:ext cx="3547872" cy="1645920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05256" y="1965960"/>
            <a:ext cx="466344" cy="466344"/>
          </a:xfrm>
          <a:prstGeom prst="ellipse">
            <a:avLst/>
          </a:prstGeom>
          <a:solidFill>
            <a:srgbClr val="192E4C"/>
          </a:solidFill>
          <a:ln w="16510">
            <a:solidFill>
              <a:srgbClr val="41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" y="2002536"/>
            <a:ext cx="4572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1D4EC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1947672"/>
            <a:ext cx="2542032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JAVA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2505456"/>
            <a:ext cx="25146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9CE"/>
                </a:solidFill>
                <a:latin typeface="Aptos"/>
              </a:rPr>
              <a:t>Ngôn ngữ, OOP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1728216"/>
            <a:ext cx="3547872" cy="1645920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745736" y="1965960"/>
            <a:ext cx="466344" cy="466344"/>
          </a:xfrm>
          <a:prstGeom prst="ellipse">
            <a:avLst/>
          </a:prstGeom>
          <a:solidFill>
            <a:srgbClr val="192E4C"/>
          </a:solidFill>
          <a:ln w="16510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0308" y="2002536"/>
            <a:ext cx="4572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D6B3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1947672"/>
            <a:ext cx="2542032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SWING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505456"/>
            <a:ext cx="25146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9CE"/>
                </a:solidFill>
                <a:latin typeface="Aptos"/>
              </a:rPr>
              <a:t>Desktop GUI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1728216"/>
            <a:ext cx="3547872" cy="1645920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86216" y="1965960"/>
            <a:ext cx="466344" cy="466344"/>
          </a:xfrm>
          <a:prstGeom prst="ellipse">
            <a:avLst/>
          </a:prstGeom>
          <a:solidFill>
            <a:srgbClr val="192E4C"/>
          </a:solidFill>
          <a:ln w="16510">
            <a:solidFill>
              <a:srgbClr val="F5C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0788" y="2002536"/>
            <a:ext cx="4572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C46E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1947672"/>
            <a:ext cx="2542032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MAVEN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505456"/>
            <a:ext cx="25146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9CE"/>
                </a:solidFill>
                <a:latin typeface="Aptos"/>
              </a:rPr>
              <a:t>Build / dependencies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648456"/>
            <a:ext cx="3547872" cy="1645920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5256" y="3886200"/>
            <a:ext cx="466344" cy="466344"/>
          </a:xfrm>
          <a:prstGeom prst="ellipse">
            <a:avLst/>
          </a:prstGeom>
          <a:solidFill>
            <a:srgbClr val="192E4C"/>
          </a:solidFill>
          <a:ln w="16510">
            <a:solidFill>
              <a:srgbClr val="41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828" y="3922776"/>
            <a:ext cx="4572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1D4EC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3867912"/>
            <a:ext cx="2542032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GSON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4425696"/>
            <a:ext cx="25146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9CE"/>
                </a:solidFill>
                <a:latin typeface="Aptos"/>
              </a:rPr>
              <a:t>Lưu trữ JSON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3648456"/>
            <a:ext cx="3547872" cy="1645920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745736" y="3886200"/>
            <a:ext cx="466344" cy="466344"/>
          </a:xfrm>
          <a:prstGeom prst="ellipse">
            <a:avLst/>
          </a:prstGeom>
          <a:solidFill>
            <a:srgbClr val="192E4C"/>
          </a:solidFill>
          <a:ln w="16510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50308" y="3922776"/>
            <a:ext cx="4572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D6B3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3867912"/>
            <a:ext cx="2542032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JUNIT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425696"/>
            <a:ext cx="25146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9CE"/>
                </a:solidFill>
                <a:latin typeface="Aptos"/>
              </a:rPr>
              <a:t>Kiểm thử tự động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657600"/>
            <a:ext cx="3200400" cy="1828800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68512" y="3886200"/>
            <a:ext cx="25877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0D6B3"/>
                </a:solidFill>
                <a:latin typeface="Aptos"/>
              </a:rPr>
              <a:t>JAVA THUẦN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0224" y="4398264"/>
            <a:ext cx="2633472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BFF"/>
                </a:solidFill>
                <a:latin typeface="Aptos"/>
              </a:rPr>
              <a:t>Không dùng web framework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BFF"/>
                </a:solidFill>
                <a:latin typeface="Aptos"/>
              </a:rPr>
              <a:t>Chạy trên máy có giao diện đồ họa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04  /  THIẾT KẾ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Kiến trúc hệ thống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05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1453896"/>
            <a:ext cx="107899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AB9CE"/>
                </a:solidFill>
                <a:latin typeface="Aptos"/>
              </a:rPr>
              <a:t>Khởi tạo qua DI Singleton, UI gọi Service; nghiệp vụ truy cập Repository để lưu JSON.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048256"/>
            <a:ext cx="1993392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2139696"/>
            <a:ext cx="1773936" cy="7406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"/>
              </a:rPr>
              <a:t>JAVA SWING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"/>
              </a:rPr>
              <a:t>BankWindow / Panels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6472" y="2048256"/>
            <a:ext cx="1993392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41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95344" y="2139696"/>
            <a:ext cx="1746504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"/>
              </a:rPr>
              <a:t>5 SERVICE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"/>
              </a:rPr>
              <a:t>Business rules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11112" y="2048256"/>
            <a:ext cx="1993392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F5C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2148840"/>
            <a:ext cx="1773936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BFF"/>
                </a:solidFill>
                <a:latin typeface="Aptos"/>
              </a:rPr>
              <a:t>JSON REPOSITORY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BFF"/>
                </a:solidFill>
                <a:latin typeface="Aptos"/>
              </a:rPr>
              <a:t>Gson persistence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2048256"/>
            <a:ext cx="1828800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64624" y="2148840"/>
            <a:ext cx="1636776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BFF"/>
                </a:solidFill>
                <a:latin typeface="Aptos"/>
              </a:rPr>
              <a:t>BANK-DATA.JSON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BFF"/>
                </a:solidFill>
                <a:latin typeface="Aptos"/>
              </a:rPr>
              <a:t>Durable storage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07792" y="2523744"/>
            <a:ext cx="868680" cy="0"/>
          </a:xfrm>
          <a:prstGeom prst="line">
            <a:avLst/>
          </a:prstGeom>
          <a:ln w="330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712463" y="2468880"/>
            <a:ext cx="118872" cy="118872"/>
          </a:xfrm>
          <a:prstGeom prst="ellipse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769864" y="2523744"/>
            <a:ext cx="841248" cy="0"/>
          </a:xfrm>
          <a:prstGeom prst="line">
            <a:avLst/>
          </a:prstGeom>
          <a:ln w="330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47104" y="2468880"/>
            <a:ext cx="118872" cy="118872"/>
          </a:xfrm>
          <a:prstGeom prst="ellipse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8604504" y="2523744"/>
            <a:ext cx="859536" cy="0"/>
          </a:xfrm>
          <a:prstGeom prst="line">
            <a:avLst/>
          </a:prstGeom>
          <a:ln w="330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400032" y="2468880"/>
            <a:ext cx="118872" cy="118872"/>
          </a:xfrm>
          <a:prstGeom prst="ellipse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337560" y="3931920"/>
            <a:ext cx="3017520" cy="1097280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41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11880" y="4087368"/>
            <a:ext cx="24780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1D4EC"/>
                </a:solidFill>
                <a:latin typeface="Aptos"/>
              </a:rPr>
              <a:t>DI SINGLETON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4517136"/>
            <a:ext cx="25054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AB9CE"/>
                </a:solidFill>
                <a:latin typeface="Aptos"/>
              </a:rPr>
              <a:t>getInstance() • register private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4846320" y="3136392"/>
            <a:ext cx="0" cy="786384"/>
          </a:xfrm>
          <a:prstGeom prst="line">
            <a:avLst/>
          </a:prstGeom>
          <a:ln w="2540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803136" y="3931920"/>
            <a:ext cx="3246120" cy="1097280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F5C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0" y="4087368"/>
            <a:ext cx="256946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C46E"/>
                </a:solidFill>
                <a:latin typeface="Aptos"/>
              </a:rPr>
              <a:t>5 SIMPLE FACTORY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4507992"/>
            <a:ext cx="269748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B9CE"/>
                </a:solidFill>
                <a:latin typeface="Aptos"/>
              </a:rPr>
              <a:t>create() → ServiceImpl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6391656" y="4489704"/>
            <a:ext cx="393192" cy="0"/>
          </a:xfrm>
          <a:prstGeom prst="line">
            <a:avLst/>
          </a:prstGeom>
          <a:ln w="2032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32688" y="5586984"/>
            <a:ext cx="996696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"/>
              </a:rPr>
              <a:t>Điểm khởi động:  Main → DI.getInstance() → BankWindow.launch(di)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05  /  UML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Class Diagram — Model OOP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06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AAB9CE"/>
                </a:solidFill>
                <a:latin typeface="Aptos"/>
              </a:rPr>
              <a:t>Hai cây kế thừa + sở hữu tài khoản theo Composition.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1929384"/>
            <a:ext cx="1947672" cy="676656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41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057400"/>
            <a:ext cx="1746504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"/>
              </a:rPr>
              <a:t>User «abstract»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3191256"/>
            <a:ext cx="1984248" cy="749808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3383280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BFF"/>
                </a:solidFill>
                <a:latin typeface="Aptos"/>
              </a:rPr>
              <a:t>Customer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191256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36392" y="3383280"/>
            <a:ext cx="1728216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BFF"/>
                </a:solidFill>
                <a:latin typeface="Aptos"/>
              </a:rPr>
              <a:t>Employee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00784" y="2615184"/>
            <a:ext cx="0" cy="274320"/>
          </a:xfrm>
          <a:prstGeom prst="line">
            <a:avLst/>
          </a:prstGeom>
          <a:ln w="2032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00784" y="2889504"/>
            <a:ext cx="2286000" cy="0"/>
          </a:xfrm>
          <a:prstGeom prst="line">
            <a:avLst/>
          </a:prstGeom>
          <a:ln w="2032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00784" y="2889504"/>
            <a:ext cx="0" cy="301752"/>
          </a:xfrm>
          <a:prstGeom prst="line">
            <a:avLst/>
          </a:prstGeom>
          <a:ln w="2032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86784" y="2889504"/>
            <a:ext cx="0" cy="301752"/>
          </a:xfrm>
          <a:prstGeom prst="line">
            <a:avLst/>
          </a:prstGeom>
          <a:ln w="2032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3816" y="4187952"/>
            <a:ext cx="44805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9CE"/>
                </a:solidFill>
                <a:latin typeface="Aptos"/>
              </a:rPr>
              <a:t>getRole() • deactivate()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50608" y="1929384"/>
            <a:ext cx="2743200" cy="676656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42631" y="2057400"/>
            <a:ext cx="2395728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"/>
              </a:rPr>
              <a:t>BankAccount «abstract»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79592" y="3191256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34455" y="3346704"/>
            <a:ext cx="167335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F7FBFF"/>
                </a:solidFill>
                <a:latin typeface="Aptos"/>
              </a:rPr>
              <a:t>CheckingAccount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36408" y="3191256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91272" y="3346704"/>
            <a:ext cx="167335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F7FBFF"/>
                </a:solidFill>
                <a:latin typeface="Aptos"/>
              </a:rPr>
              <a:t>SavingsAccount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93224" y="3191256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48088" y="3346704"/>
            <a:ext cx="1673352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F7FBFF"/>
                </a:solidFill>
                <a:latin typeface="Aptos"/>
              </a:rPr>
              <a:t>LoanAccount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22208" y="2606040"/>
            <a:ext cx="0" cy="283464"/>
          </a:xfrm>
          <a:prstGeom prst="line">
            <a:avLst/>
          </a:prstGeom>
          <a:ln w="203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75704" y="2889504"/>
            <a:ext cx="3904488" cy="0"/>
          </a:xfrm>
          <a:prstGeom prst="line">
            <a:avLst/>
          </a:prstGeom>
          <a:ln w="203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71131" y="2889504"/>
            <a:ext cx="0" cy="301752"/>
          </a:xfrm>
          <a:prstGeom prst="line">
            <a:avLst/>
          </a:prstGeom>
          <a:ln w="203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727948" y="2889504"/>
            <a:ext cx="0" cy="301752"/>
          </a:xfrm>
          <a:prstGeom prst="line">
            <a:avLst/>
          </a:prstGeom>
          <a:ln w="203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684764" y="2889504"/>
            <a:ext cx="0" cy="301752"/>
          </a:xfrm>
          <a:prstGeom prst="line">
            <a:avLst/>
          </a:prstGeom>
          <a:ln w="2032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656832" y="4187952"/>
            <a:ext cx="4937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9CE"/>
                </a:solidFill>
                <a:latin typeface="Aptos"/>
              </a:rPr>
              <a:t>getAccountType() • đa hình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" y="4782312"/>
            <a:ext cx="10341864" cy="941832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79576" y="4965192"/>
            <a:ext cx="184708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D6B3"/>
                </a:solidFill>
                <a:latin typeface="Aptos"/>
              </a:rPr>
              <a:t>COMPOSITION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9504" y="4919472"/>
            <a:ext cx="8147304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F7FBFF"/>
                </a:solidFill>
                <a:latin typeface="Aptos"/>
              </a:rPr>
              <a:t>Customer  ◆──── 0..* BankAccount  (Customer.accounts: List&lt;BankAccount&gt;)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06  /  UML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Class Diagram — Service / DI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07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1389888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AB9CE"/>
                </a:solidFill>
                <a:latin typeface="Aptos"/>
              </a:rPr>
              <a:t>Một interface cho mỗi nhóm nghiệp vụ; Factory tạo implementation; Repository dùng chung.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7448" y="1783080"/>
            <a:ext cx="2743200" cy="603504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41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65192" y="1901952"/>
            <a:ext cx="225856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1D4EC"/>
                </a:solidFill>
                <a:latin typeface="Aptos"/>
              </a:rPr>
              <a:t>DI  «Singleton»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2889504"/>
            <a:ext cx="2185416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044952"/>
            <a:ext cx="201168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BFF"/>
                </a:solidFill>
                <a:latin typeface="Aptos"/>
              </a:rPr>
              <a:t>AccountService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4655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AB9CE"/>
                </a:solidFill>
                <a:latin typeface="Aptos"/>
              </a:rPr>
              <a:t>Khách hàng &amp; tài khoản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96796" y="2395728"/>
            <a:ext cx="0" cy="493776"/>
          </a:xfrm>
          <a:prstGeom prst="line">
            <a:avLst/>
          </a:prstGeom>
          <a:ln w="1778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017520" y="2889504"/>
            <a:ext cx="2185416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08960" y="3044952"/>
            <a:ext cx="201168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BFF"/>
                </a:solidFill>
                <a:latin typeface="Aptos"/>
              </a:rPr>
              <a:t>TransactionService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18103" y="34655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AB9CE"/>
                </a:solidFill>
                <a:latin typeface="Aptos"/>
              </a:rPr>
              <a:t>Nộp / rút / chuyển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0228" y="2395728"/>
            <a:ext cx="0" cy="493776"/>
          </a:xfrm>
          <a:prstGeom prst="line">
            <a:avLst/>
          </a:prstGeom>
          <a:ln w="1778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30952" y="2889504"/>
            <a:ext cx="2185416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22392" y="3044952"/>
            <a:ext cx="201168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BFF"/>
                </a:solidFill>
                <a:latin typeface="Aptos"/>
              </a:rPr>
              <a:t>SavingsService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34655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AB9CE"/>
                </a:solidFill>
                <a:latin typeface="Aptos"/>
              </a:rPr>
              <a:t>Tiết kiệm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23660" y="2395728"/>
            <a:ext cx="0" cy="493776"/>
          </a:xfrm>
          <a:prstGeom prst="line">
            <a:avLst/>
          </a:prstGeom>
          <a:ln w="1778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44383" y="2889504"/>
            <a:ext cx="2185416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35823" y="3044952"/>
            <a:ext cx="201168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BFF"/>
                </a:solidFill>
                <a:latin typeface="Aptos"/>
              </a:rPr>
              <a:t>LoanService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7" y="34655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AB9CE"/>
                </a:solidFill>
                <a:latin typeface="Aptos"/>
              </a:rPr>
              <a:t>Khoản vay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37092" y="2395728"/>
            <a:ext cx="0" cy="493776"/>
          </a:xfrm>
          <a:prstGeom prst="line">
            <a:avLst/>
          </a:prstGeom>
          <a:ln w="1778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7815" y="2889504"/>
            <a:ext cx="2185416" cy="98755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49255" y="3044952"/>
            <a:ext cx="201168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BFF"/>
                </a:solidFill>
                <a:latin typeface="Aptos"/>
              </a:rPr>
              <a:t>ReportService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399" y="34655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AB9CE"/>
                </a:solidFill>
                <a:latin typeface="Aptos"/>
              </a:rPr>
              <a:t>Hai báo cáo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050524" y="2395728"/>
            <a:ext cx="0" cy="493776"/>
          </a:xfrm>
          <a:prstGeom prst="line">
            <a:avLst/>
          </a:prstGeom>
          <a:ln w="17780">
            <a:solidFill>
              <a:srgbClr val="41D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273552" y="4498848"/>
            <a:ext cx="5650992" cy="640080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F5C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0" y="4636008"/>
            <a:ext cx="525780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7FBFF"/>
                </a:solidFill>
                <a:latin typeface="Aptos"/>
              </a:rPr>
              <a:t>5 Simple Factory  →  5 ServiceImpl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796796" y="3886200"/>
            <a:ext cx="0" cy="301752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110228" y="3886200"/>
            <a:ext cx="0" cy="301752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23660" y="3886200"/>
            <a:ext cx="0" cy="301752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737092" y="3886200"/>
            <a:ext cx="0" cy="301752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50524" y="3886200"/>
            <a:ext cx="0" cy="301752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92224" y="4187952"/>
            <a:ext cx="9262872" cy="0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263640" y="4187952"/>
            <a:ext cx="0" cy="310896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867912" y="5532120"/>
            <a:ext cx="4434840" cy="512064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078224" y="5618988"/>
            <a:ext cx="4014215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30D6B3"/>
                </a:solidFill>
                <a:latin typeface="Aptos"/>
              </a:rPr>
              <a:t>JsonRepository «Singleton»  →  JSON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89904" y="5138928"/>
            <a:ext cx="0" cy="393192"/>
          </a:xfrm>
          <a:prstGeom prst="line">
            <a:avLst/>
          </a:prstGeom>
          <a:ln w="17780">
            <a:solidFill>
              <a:srgbClr val="30D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07  /  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Các nguyên lý OOP được áp dụng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08 /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1700784"/>
            <a:ext cx="5458968" cy="176479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7824" y="1929384"/>
            <a:ext cx="54864" cy="384048"/>
          </a:xfrm>
          <a:prstGeom prst="rect">
            <a:avLst/>
          </a:prstGeom>
          <a:solidFill>
            <a:srgbClr val="41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1874520"/>
            <a:ext cx="47548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ĐÓNG GÓI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423160"/>
            <a:ext cx="4626864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private fields •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Customer / BankAccount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700784"/>
            <a:ext cx="5458968" cy="176479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74536" y="1929384"/>
            <a:ext cx="54864" cy="384048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75704" y="1874520"/>
            <a:ext cx="47548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KẾ THỪA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423160"/>
            <a:ext cx="4626864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User → Customer/Employee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BankAccount → 3 lớp con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" y="3675888"/>
            <a:ext cx="5458968" cy="176479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7824" y="3904488"/>
            <a:ext cx="54864" cy="384048"/>
          </a:xfrm>
          <a:prstGeom prst="rect">
            <a:avLst/>
          </a:prstGeom>
          <a:solidFill>
            <a:srgbClr val="F5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3849624"/>
            <a:ext cx="47548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ĐA HÌNH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398264"/>
            <a:ext cx="4626864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List&lt;BankAccount&gt;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getAccountType() override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75888"/>
            <a:ext cx="5458968" cy="1764792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74536" y="3904488"/>
            <a:ext cx="54864" cy="384048"/>
          </a:xfrm>
          <a:prstGeom prst="rect">
            <a:avLst/>
          </a:prstGeom>
          <a:solidFill>
            <a:srgbClr val="41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75704" y="3849624"/>
            <a:ext cx="47548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BFF"/>
                </a:solidFill>
                <a:latin typeface="Aptos"/>
              </a:rPr>
              <a:t>TRỪU TƯỢNG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4398264"/>
            <a:ext cx="4626864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abstract class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9CE"/>
                </a:solidFill>
                <a:latin typeface="Aptos"/>
              </a:rPr>
              <a:t>5 Service interface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824728"/>
            <a:ext cx="10716768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BFF"/>
                </a:solidFill>
                <a:latin typeface="Aptos"/>
              </a:rPr>
              <a:t>Bổ sung trong mã nguồn: overload, @Override, custom exception, Collection, Gson JSON và JUnit 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"/>
            <a:ext cx="7315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1D4EC"/>
                </a:solidFill>
                <a:latin typeface="Aptos"/>
              </a:rPr>
              <a:t>08  /  DESIGN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Design Pattern — kiến trúc khởi tạo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09 /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1691640"/>
            <a:ext cx="5330952" cy="3602736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9536" y="1901952"/>
            <a:ext cx="50292" cy="365760"/>
          </a:xfrm>
          <a:prstGeom prst="rect">
            <a:avLst/>
          </a:prstGeom>
          <a:solidFill>
            <a:srgbClr val="41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1856232"/>
            <a:ext cx="481888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7FBFF"/>
                </a:solidFill>
                <a:latin typeface="Aptos"/>
              </a:rPr>
              <a:t>SINGLETON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" y="2404872"/>
            <a:ext cx="2286000" cy="310896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2418588"/>
            <a:ext cx="217627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1D4EC"/>
                </a:solidFill>
                <a:latin typeface="Aptos"/>
              </a:rPr>
              <a:t>DI + JsonRepository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2798064"/>
            <a:ext cx="4745736" cy="2368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AB9CE"/>
                </a:solidFill>
                <a:latin typeface="Aptos"/>
              </a:rPr>
              <a:t>Một instance Repository dùng chung để nạp/lưu dữ liệu. DI quản lý các Service và khởi tạo ứng dụng một lần.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691640"/>
            <a:ext cx="5321808" cy="3602736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36792" y="1901952"/>
            <a:ext cx="50292" cy="36576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4" y="1856232"/>
            <a:ext cx="480974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7FBFF"/>
                </a:solidFill>
                <a:latin typeface="Aptos"/>
              </a:rPr>
              <a:t>SIMPLE FACTORY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2404872"/>
            <a:ext cx="2286000" cy="310896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28816" y="2418588"/>
            <a:ext cx="217627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0D6B3"/>
                </a:solidFill>
                <a:latin typeface="Aptos"/>
              </a:rPr>
              <a:t>5 SERVICE FACTORY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798064"/>
            <a:ext cx="4736592" cy="2368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AB9CE"/>
                </a:solidFill>
                <a:latin typeface="Aptos"/>
              </a:rPr>
              <a:t>Năm Factory.create() tạo đúng ServiceImpl tương ứng và truyền Repository chung.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" y="5559552"/>
            <a:ext cx="10241280" cy="475488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5632704"/>
            <a:ext cx="98755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AAB9CE"/>
                </a:solidFill>
                <a:latin typeface="Aptos"/>
              </a:rPr>
              <a:t>Lưu ý học thuật: Simple Factory được sử dụng; không đồng nhất với GoF Factory Method.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63823"/>
            <a:ext cx="7315200" cy="2062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100" b="1" dirty="0">
                <a:solidFill>
                  <a:srgbClr val="41D4EC"/>
                </a:solidFill>
                <a:latin typeface="Aptos"/>
              </a:rPr>
              <a:t>9</a:t>
            </a:r>
            <a:r>
              <a:rPr sz="1100" b="1" dirty="0">
                <a:solidFill>
                  <a:srgbClr val="41D4EC"/>
                </a:solidFill>
                <a:latin typeface="Aptos"/>
              </a:rPr>
              <a:t>  /  CHẤT LƯỢNG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Kết quả kiểm thử tự động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11 /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1783080"/>
            <a:ext cx="4837176" cy="3566160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9525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6424" y="2093976"/>
            <a:ext cx="4087368" cy="1399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30D6B3"/>
                </a:solidFill>
                <a:latin typeface="Aptos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730752"/>
            <a:ext cx="4133087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7FBFF"/>
                </a:solidFill>
                <a:latin typeface="Aptos"/>
              </a:rPr>
              <a:t>/ 50  JUNIT TEST 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" y="4425696"/>
            <a:ext cx="4133087" cy="237744"/>
          </a:xfrm>
          <a:prstGeom prst="roundRect">
            <a:avLst>
              <a:gd name="adj" fmla="val 12000"/>
            </a:avLst>
          </a:prstGeom>
          <a:solidFill>
            <a:srgbClr val="28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60704" y="4425696"/>
            <a:ext cx="4133087" cy="237744"/>
          </a:xfrm>
          <a:prstGeom prst="roundRect">
            <a:avLst>
              <a:gd name="adj" fmla="val 12000"/>
            </a:avLst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882896"/>
            <a:ext cx="4105656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AB9CE"/>
                </a:solidFill>
                <a:latin typeface="Aptos"/>
              </a:rPr>
              <a:t>Maven clean verify — BUILD SUCCESS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5312" y="1773936"/>
            <a:ext cx="5504688" cy="795528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89904" y="1947672"/>
            <a:ext cx="420624" cy="420624"/>
          </a:xfrm>
          <a:prstGeom prst="ellipse">
            <a:avLst/>
          </a:prstGeom>
          <a:solidFill>
            <a:srgbClr val="152741"/>
          </a:solidFill>
          <a:ln w="12700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1956816"/>
            <a:ext cx="2743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D6B3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5976" y="1883664"/>
            <a:ext cx="1554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BFF"/>
                </a:solidFill>
                <a:latin typeface="Aptos"/>
              </a:rPr>
              <a:t>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1920240"/>
            <a:ext cx="294436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9CE"/>
                </a:solidFill>
                <a:latin typeface="Aptos"/>
              </a:rPr>
              <a:t>Kế thừa /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5312" y="2734056"/>
            <a:ext cx="5504688" cy="795528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089904" y="2907792"/>
            <a:ext cx="420624" cy="420624"/>
          </a:xfrm>
          <a:prstGeom prst="ellipse">
            <a:avLst/>
          </a:prstGeom>
          <a:solidFill>
            <a:srgbClr val="152741"/>
          </a:solidFill>
          <a:ln w="12700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2916936"/>
            <a:ext cx="2743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D6B3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5976" y="2843784"/>
            <a:ext cx="1554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BFF"/>
                </a:solidFill>
                <a:latin typeface="Aptos"/>
              </a:rPr>
              <a:t>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2880360"/>
            <a:ext cx="294436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9CE"/>
                </a:solidFill>
                <a:latin typeface="Aptos"/>
              </a:rPr>
              <a:t>Giao dịch / lãi / vay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25312" y="3694176"/>
            <a:ext cx="5504688" cy="795528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89904" y="3867912"/>
            <a:ext cx="420624" cy="420624"/>
          </a:xfrm>
          <a:prstGeom prst="ellipse">
            <a:avLst/>
          </a:prstGeom>
          <a:solidFill>
            <a:srgbClr val="152741"/>
          </a:solidFill>
          <a:ln w="12700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3877056"/>
            <a:ext cx="2743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D6B3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976" y="3803904"/>
            <a:ext cx="1554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BFF"/>
                </a:solidFill>
                <a:latin typeface="Aptos"/>
              </a:rPr>
              <a:t>REPOSITORY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3840480"/>
            <a:ext cx="294436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9CE"/>
                </a:solidFill>
                <a:latin typeface="Aptos"/>
              </a:rPr>
              <a:t>JSON round-trip, rollback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25312" y="4654296"/>
            <a:ext cx="5504688" cy="795528"/>
          </a:xfrm>
          <a:prstGeom prst="roundRect">
            <a:avLst>
              <a:gd name="adj" fmla="val 12000"/>
            </a:avLst>
          </a:prstGeom>
          <a:solidFill>
            <a:srgbClr val="192E4C"/>
          </a:solidFill>
          <a:ln w="9525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089904" y="4828032"/>
            <a:ext cx="420624" cy="420624"/>
          </a:xfrm>
          <a:prstGeom prst="ellipse">
            <a:avLst/>
          </a:prstGeom>
          <a:solidFill>
            <a:srgbClr val="152741"/>
          </a:solidFill>
          <a:ln w="12700">
            <a:solidFill>
              <a:srgbClr val="30D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72200" y="4837176"/>
            <a:ext cx="2743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D6B3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5976" y="4764024"/>
            <a:ext cx="1554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BFF"/>
                </a:solidFill>
                <a:latin typeface="Aptos"/>
              </a:rPr>
              <a:t>ARCHITECTURE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4800600"/>
            <a:ext cx="294436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9CE"/>
                </a:solidFill>
                <a:latin typeface="Aptos"/>
              </a:rPr>
              <a:t>Factory / DI / UI helpers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7608" y="5806440"/>
            <a:ext cx="5458968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AAB9CE"/>
                </a:solidFill>
                <a:latin typeface="Aptos"/>
              </a:rPr>
              <a:t>Lưu ý: JUnit kiểm tra nghiệp vụ; chạy GUI thủ công để kiểm tra trải nghiệm người dùng.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749808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780897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11987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43076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74166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5256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36345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7435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98524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9614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17936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28832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539728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850624" y="0"/>
            <a:ext cx="182880" cy="594360"/>
          </a:xfrm>
          <a:prstGeom prst="line">
            <a:avLst/>
          </a:prstGeom>
          <a:ln w="4445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" y="438912"/>
            <a:ext cx="73152" cy="32004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63823"/>
            <a:ext cx="7315200" cy="2062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100" b="1" dirty="0">
                <a:solidFill>
                  <a:srgbClr val="41D4EC"/>
                </a:solidFill>
                <a:latin typeface="Aptos"/>
              </a:rPr>
              <a:t>10</a:t>
            </a:r>
            <a:r>
              <a:rPr sz="1100" b="1" dirty="0">
                <a:solidFill>
                  <a:srgbClr val="41D4EC"/>
                </a:solidFill>
                <a:latin typeface="Aptos"/>
              </a:rPr>
              <a:t>  /  TỔNG KẾT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78992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7FBFF"/>
                </a:solidFill>
                <a:latin typeface="Aptos"/>
              </a:rPr>
              <a:t>Kết luận &amp; hướng phát triển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64224"/>
            <a:ext cx="10881360" cy="0"/>
          </a:xfrm>
          <a:prstGeom prst="line">
            <a:avLst/>
          </a:prstGeom>
          <a:ln w="12700">
            <a:solidFill>
              <a:srgbClr val="28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641908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AB9CE"/>
                </a:solidFill>
                <a:latin typeface="Aptos"/>
              </a:rPr>
              <a:t>NBS BANK  /  ĐỒ ÁN LẬP TRÌNH HƯỚNG ĐỐI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09944"/>
            <a:ext cx="85953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1D4EC"/>
                </a:solidFill>
                <a:latin typeface="Aptos"/>
              </a:rPr>
              <a:t>12 /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1700784"/>
            <a:ext cx="5376672" cy="3346704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0392" y="1911096"/>
            <a:ext cx="50292" cy="365760"/>
          </a:xfrm>
          <a:prstGeom prst="rect">
            <a:avLst/>
          </a:prstGeom>
          <a:solidFill>
            <a:srgbClr val="30D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3" y="1865376"/>
            <a:ext cx="486460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7FBFF"/>
                </a:solidFill>
                <a:latin typeface="Aptos"/>
              </a:rPr>
              <a:t>KẾT QUẢ ĐẠT ĐƯỢC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2487168"/>
            <a:ext cx="4791456" cy="2423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AB9CE"/>
                </a:solidFill>
                <a:latin typeface="Aptos"/>
              </a:rPr>
              <a:t>Ứng dụng ngân hàng desktop có hai vai trò; nghiệp vụ tài khoản, giao dịch, tiết kiệm, vay; lưu JSON; UML; 50 test pass.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700784"/>
            <a:ext cx="5321808" cy="3346704"/>
          </a:xfrm>
          <a:prstGeom prst="roundRect">
            <a:avLst>
              <a:gd name="adj" fmla="val 12000"/>
            </a:avLst>
          </a:prstGeom>
          <a:solidFill>
            <a:srgbClr val="152741"/>
          </a:solidFill>
          <a:ln w="10160">
            <a:solidFill>
              <a:srgbClr val="28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64224" y="1911096"/>
            <a:ext cx="50292" cy="365760"/>
          </a:xfrm>
          <a:prstGeom prst="rect">
            <a:avLst/>
          </a:prstGeom>
          <a:solidFill>
            <a:srgbClr val="F5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28816" y="1865376"/>
            <a:ext cx="480974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7FBFF"/>
                </a:solidFill>
                <a:latin typeface="Aptos"/>
              </a:rPr>
              <a:t>GIỚI HẠN &amp; TIẾP THEO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2487168"/>
            <a:ext cx="4736592" cy="2423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AB9CE"/>
                </a:solidFill>
                <a:latin typeface="Aptos"/>
              </a:rPr>
              <a:t>Bổ sung phân quyền độc lập ở Service; cải thiện UX và dữ liệu thử nghiệm; cân nhắc cơ sở dữ liệu khi mở rộng.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50008" y="5376672"/>
            <a:ext cx="7498079" cy="621792"/>
          </a:xfrm>
          <a:prstGeom prst="roundRect">
            <a:avLst>
              <a:gd name="adj" fmla="val 12000"/>
            </a:avLst>
          </a:prstGeom>
          <a:solidFill>
            <a:srgbClr val="10213B"/>
          </a:solidFill>
          <a:ln w="9525">
            <a:solidFill>
              <a:srgbClr val="41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51760" y="5513832"/>
            <a:ext cx="6903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1D4EC"/>
                </a:solidFill>
                <a:latin typeface="Aptos"/>
              </a:rPr>
              <a:t>CẢM ƠN THẦY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942</Words>
  <Application>Microsoft Macintosh PowerPoint</Application>
  <PresentationFormat>Widescreen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Quản lý ngân hàng — Project NBS</dc:title>
  <dc:subject>Slide bảo vệ đồ án OOP Java Swing</dc:subject>
  <dc:creator>Nguyễn Đăng Quang</dc:creator>
  <cp:keywords>NBS Java Swing OOP UML Singleton Simple Factory JUnit</cp:keywords>
  <dc:description>generated using python-pptx</dc:description>
  <cp:lastModifiedBy>cuccung</cp:lastModifiedBy>
  <cp:revision>2</cp:revision>
  <dcterms:created xsi:type="dcterms:W3CDTF">2013-01-27T09:14:16Z</dcterms:created>
  <dcterms:modified xsi:type="dcterms:W3CDTF">2026-10-28T04:25:01Z</dcterms:modified>
  <cp:category/>
</cp:coreProperties>
</file>